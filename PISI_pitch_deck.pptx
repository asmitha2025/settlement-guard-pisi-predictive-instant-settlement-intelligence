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6400800" cy="6400800"/>
          </a:xfrm>
          <a:prstGeom prst="ellipse">
            <a:avLst/>
          </a:prstGeom>
          <a:solidFill>
            <a:srgbClr val="3A63C4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3DDC97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659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5B8D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00200" y="17830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Instant Settlement Intelligence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3520440" cy="420624"/>
          </a:xfrm>
          <a:prstGeom prst="roundRect">
            <a:avLst>
              <a:gd name="adj" fmla="val 50000"/>
            </a:avLst>
          </a:prstGeom>
          <a:solidFill>
            <a:srgbClr val="12181F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20440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· AI REVENUE RECOVERY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355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 optimizes the path. PISI optimizes the safety net.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things break when a bank goes down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074920" cy="3566160"/>
          </a:xfrm>
          <a:prstGeom prst="roundRect">
            <a:avLst>
              <a:gd name="adj" fmla="val 3077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103120"/>
            <a:ext cx="146304" cy="146304"/>
          </a:xfrm>
          <a:prstGeom prst="ellipse">
            <a:avLst/>
          </a:prstGeom>
          <a:solidFill>
            <a:srgbClr val="E85D4C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03911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FAILURE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256032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 attempt itself doesn't go through — the customer's bank can't approve the debit.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361188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Razorpay's own error docs call this beyond their control and point to multi-terminal routing — Smart Routing's job.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48463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handled.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074920" cy="3566160"/>
          </a:xfrm>
          <a:prstGeom prst="roundRect">
            <a:avLst>
              <a:gd name="adj" fmla="val 3077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103120"/>
            <a:ext cx="146304" cy="146304"/>
          </a:xfrm>
          <a:prstGeom prst="ellipse">
            <a:avLst/>
          </a:prstGeom>
          <a:solidFill>
            <a:srgbClr val="E8B33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203911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RISK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56032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 already succeeded. What's at risk is the leg that moves funds onward, through a now-degraded bank.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361188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customer-facing failure — a merchant cash-flow problem. Nothing in Razorpay's stack predicts it ahead of time.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48463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PISI builds.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PISI · Track 3: AI Revenue Recovery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already built both halves of this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0574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4414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94.69%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43000" y="308152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precision, best of 5 models compared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43000" y="365760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4–6% measured lift in production success rate · month-long A/B test · ~35M transactions trained 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45262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on the acquiring / gateway side only.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0574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SETTLEMENT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4414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83680" y="308152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advance, using Razorpay's own corporate capital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0" y="365760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at 0.30% per settlement · T = the captured payment date · merchant-triggered today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45262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ever applies to a payment that's already captured.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52578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Bygari, Gupta, Raghuvanshi, Bapna, Sahu — “An AI-powered Smart Routing Solution for Payment Systems.” arXiv:2111.00783, 2021.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PISI · Track 3: AI Revenue Recovery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connects prediction to capital — until now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3337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which terminal succeeds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60520" y="31546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029200" y="265176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SETTLEMENT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57800" y="3337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payout, reactively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66760" y="31546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9235440" y="2514600"/>
            <a:ext cx="2130552" cy="2011680"/>
          </a:xfrm>
          <a:prstGeom prst="roundRect">
            <a:avLst>
              <a:gd name="adj" fmla="val 5455"/>
            </a:avLst>
          </a:prstGeom>
          <a:solidFill>
            <a:srgbClr val="161D26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35440" y="2514600"/>
            <a:ext cx="2130552" cy="2011680"/>
          </a:xfrm>
          <a:prstGeom prst="roundRect">
            <a:avLst>
              <a:gd name="adj" fmla="val 5455"/>
            </a:avLst>
          </a:prstGeom>
          <a:ln w="19050">
            <a:solidFill>
              <a:srgbClr val="5B8D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0" y="274320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509760" y="3273552"/>
            <a:ext cx="1581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predictive, automatic settlement protection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892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“Smart Routing already handles gateway-side degradation. Nothing predicts settlement-path risk ahead of time and pre-approves the advance automatically — today a merchant has to notice the delay themselves.”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PISI · Track 3: AI Revenue Recovery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legs — one moves money, one doesn't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074920" cy="3566160"/>
          </a:xfrm>
          <a:prstGeom prst="roundRect">
            <a:avLst>
              <a:gd name="adj" fmla="val 3077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130552"/>
            <a:ext cx="164592" cy="16459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0574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A · SETTLEMENT PROTECTION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256032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Pre-approves Instant Settlement for already-captured payments, when the settlement-path bank is predicted to degrade.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143000" y="457200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61D26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5720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MONEY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074920" cy="3566160"/>
          </a:xfrm>
          <a:prstGeom prst="roundRect">
            <a:avLst>
              <a:gd name="adj" fmla="val 3077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130552"/>
            <a:ext cx="164592" cy="164592"/>
          </a:xfrm>
          <a:prstGeom prst="ellipse">
            <a:avLst/>
          </a:prstGeom>
          <a:solidFill>
            <a:srgbClr val="E8B339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20574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B · AUTHORIZATION WARNING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56032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Notifies merchants when a bank is predicted to cause authorization failures. Shortens reaction time.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583680" y="457200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61D26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45720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" kern="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ONLY — NEVER CLAIMS TO PREVENT FAILURE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PISI · Track 3: AI Revenue Recovery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layers, perceive to learn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713232"/>
          </a:xfrm>
          <a:prstGeom prst="roundRect">
            <a:avLst>
              <a:gd name="adj" fmla="val 15385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764792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5B8DE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6479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74520" y="160020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846320" y="1600200"/>
            <a:ext cx="6309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Captured-payment + failed-payment webhook streams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88720" y="2313432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2404872"/>
            <a:ext cx="10515600" cy="713232"/>
          </a:xfrm>
          <a:prstGeom prst="roundRect">
            <a:avLst>
              <a:gd name="adj" fmla="val 15385"/>
            </a:avLst>
          </a:prstGeom>
          <a:solidFill>
            <a:srgbClr val="161D26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2569464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5B8DE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569464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74520" y="240487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846320" y="2404872"/>
            <a:ext cx="6309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5-dimension bank vitality composite score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88720" y="3118104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2960" y="3209544"/>
            <a:ext cx="10515600" cy="713232"/>
          </a:xfrm>
          <a:prstGeom prst="roundRect">
            <a:avLst>
              <a:gd name="adj" fmla="val 15385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374136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5B8DEF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37413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74520" y="3209544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Engine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846320" y="3209544"/>
            <a:ext cx="6309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probability + duration estimate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88720" y="3922776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2960" y="4014216"/>
            <a:ext cx="10515600" cy="713232"/>
          </a:xfrm>
          <a:prstGeom prst="roundRect">
            <a:avLst>
              <a:gd name="adj" fmla="val 15385"/>
            </a:avLst>
          </a:prstGeom>
          <a:solidFill>
            <a:srgbClr val="161D26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4178808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5B8DEF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17880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74520" y="4014216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846320" y="4014216"/>
            <a:ext cx="6309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A / Leg B gates, capital ledger, safety caps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88720" y="4727448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22960" y="4818888"/>
            <a:ext cx="10515600" cy="713232"/>
          </a:xfrm>
          <a:prstGeom prst="roundRect">
            <a:avLst>
              <a:gd name="adj" fmla="val 15385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4983480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5B8DEF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498348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874520" y="4818888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846320" y="4818888"/>
            <a:ext cx="6309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Settlement call + Bridge Key ID audit trail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88720" y="5532120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22960" y="5623560"/>
            <a:ext cx="10515600" cy="713232"/>
          </a:xfrm>
          <a:prstGeom prst="roundRect">
            <a:avLst>
              <a:gd name="adj" fmla="val 15385"/>
            </a:avLst>
          </a:prstGeom>
          <a:solidFill>
            <a:srgbClr val="161D26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1560" y="5788152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5B8DEF"/>
          </a:solidFill>
          <a:ln/>
        </p:spPr>
      </p:sp>
      <p:sp>
        <p:nvSpPr>
          <p:cNvPr id="36" name="Text 34"/>
          <p:cNvSpPr/>
          <p:nvPr/>
        </p:nvSpPr>
        <p:spPr>
          <a:xfrm>
            <a:off x="1051560" y="57881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874520" y="562356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Feedback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4846320" y="5623560"/>
            <a:ext cx="6309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Precision/recall tracking, drift detection, retrain trigger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PISI · Track 3: AI Revenue Recovery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slides — a working console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515600" cy="3977640"/>
          </a:xfrm>
          <a:prstGeom prst="roundRect">
            <a:avLst>
              <a:gd name="adj" fmla="val 2759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057400"/>
            <a:ext cx="4846320" cy="1600200"/>
          </a:xfrm>
          <a:prstGeom prst="roundRect">
            <a:avLst>
              <a:gd name="adj" fmla="val 6857"/>
            </a:avLst>
          </a:prstGeom>
          <a:solidFill>
            <a:srgbClr val="161D26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212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VITALITY — SBI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71600" y="245059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148840" y="2697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251460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85D4C">
              <a:alpha val="1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2514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08760" y="3063240"/>
            <a:ext cx="1920240" cy="320040"/>
          </a:xfrm>
          <a:prstGeom prst="line">
            <a:avLst/>
          </a:prstGeom>
          <a:noFill/>
          <a:ln w="25400">
            <a:solidFill>
              <a:srgbClr val="E8B33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3383280"/>
            <a:ext cx="2011680" cy="320040"/>
          </a:xfrm>
          <a:prstGeom prst="line">
            <a:avLst/>
          </a:prstGeom>
          <a:noFill/>
          <a:ln w="25400">
            <a:solidFill>
              <a:srgbClr val="E85D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3035808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3355848"/>
            <a:ext cx="91440" cy="91440"/>
          </a:xfrm>
          <a:prstGeom prst="ellipse">
            <a:avLst/>
          </a:prstGeom>
          <a:solidFill>
            <a:srgbClr val="E8B339"/>
          </a:solidFill>
          <a:ln/>
        </p:spPr>
      </p:sp>
      <p:sp>
        <p:nvSpPr>
          <p:cNvPr id="15" name="Shape 13"/>
          <p:cNvSpPr/>
          <p:nvPr/>
        </p:nvSpPr>
        <p:spPr>
          <a:xfrm>
            <a:off x="5394960" y="3675888"/>
            <a:ext cx="91440" cy="91440"/>
          </a:xfrm>
          <a:prstGeom prst="ellipse">
            <a:avLst/>
          </a:prstGeom>
          <a:solidFill>
            <a:srgbClr val="E85D4C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3640" y="2057400"/>
            <a:ext cx="4389120" cy="1600200"/>
          </a:xfrm>
          <a:prstGeom prst="roundRect">
            <a:avLst>
              <a:gd name="adj" fmla="val 6857"/>
            </a:avLst>
          </a:prstGeom>
          <a:solidFill>
            <a:srgbClr val="161D26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212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92240" y="2606040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542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A: ACTIVATE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92240" y="3063240"/>
            <a:ext cx="128016" cy="128016"/>
          </a:xfrm>
          <a:prstGeom prst="ellipse">
            <a:avLst/>
          </a:prstGeom>
          <a:solidFill>
            <a:srgbClr val="E8B339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999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B: WARN (informational)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43000" y="3886200"/>
            <a:ext cx="9509760" cy="1600200"/>
          </a:xfrm>
          <a:prstGeom prst="roundRect">
            <a:avLst>
              <a:gd name="adj" fmla="val 6857"/>
            </a:avLst>
          </a:prstGeom>
          <a:solidFill>
            <a:srgbClr val="161D26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4041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KEY ID — SAMPLE AUDIT RECORD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71600" y="434340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BRIDGE-SBI-20260823T133603-mo_000   ·   Rs 3,641.63   →   Rs 3,637.99 settled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371600" y="4709160"/>
            <a:ext cx="8961120" cy="457200"/>
          </a:xfrm>
          <a:prstGeom prst="roundRect">
            <a:avLst>
              <a:gd name="adj" fmla="val 12000"/>
            </a:avLst>
          </a:prstGeom>
          <a:solidFill>
            <a:srgbClr val="0A0E14"/>
          </a:solidFill>
          <a:ln/>
        </p:spPr>
      </p:sp>
      <p:sp>
        <p:nvSpPr>
          <p:cNvPr id="26" name="Text 24"/>
          <p:cNvSpPr/>
          <p:nvPr/>
        </p:nvSpPr>
        <p:spPr>
          <a:xfrm>
            <a:off x="1508760" y="4709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SHA-256: 944c25f386d8358b22f4f7734c67b12e55516bd23929ef54642803b93903a398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371600" y="5230368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Books balanced — verified byte-for-byte against Python's hashlib.sha256 before recording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" y="58704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dashboard/console.html — zero install, click “Simulate a new incident” for a live SHA-256 computed in-browser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PISI · Track 3: AI Revenue Recovery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A CHERRY-PICK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independent synthetic incidents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5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178308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920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2606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5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78308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920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35040" y="2606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5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41080" y="178308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1920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641080" y="2606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5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34290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296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49040" y="34290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70.8%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74904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(N=1000, STABLE)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4434840"/>
            <a:ext cx="10515600" cy="1783080"/>
          </a:xfrm>
          <a:prstGeom prst="roundRect">
            <a:avLst>
              <a:gd name="adj" fmla="val 6154"/>
            </a:avLst>
          </a:prstGeom>
          <a:solidFill>
            <a:srgbClr val="161D26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617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FALSE NEGATIVES HONESTLY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97280" y="493776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of 49 — confidence stayed below the 70% activation floor on a genuine risk incident. The engine correctly held back rather than act on an uncertain signal.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548640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49 — happen only after incident #965 of 1000, once cumulative deployment approaches the 30% capital cap. The safety gate is a real constraint, not decorative.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PISI · Track 3: AI Revenue Recovery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RULE-BASED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trained classifier, on harder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batch above uses a rule-based scorer on cleanly-separable data — that's why precision was 100%. This trains a real model on a harder dataset where risk is genuinely noisy, and compares it to the naive rule anyone would hand-write.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5074920" cy="2286000"/>
          </a:xfrm>
          <a:prstGeom prst="roundRect">
            <a:avLst>
              <a:gd name="adj" fmla="val 4800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606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2971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143000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83280" y="2971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50.2%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430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0.359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2331720"/>
            <a:ext cx="5074920" cy="2286000"/>
          </a:xfrm>
          <a:prstGeom prst="roundRect">
            <a:avLst>
              <a:gd name="adj" fmla="val 4800"/>
            </a:avLst>
          </a:prstGeom>
          <a:solidFill>
            <a:srgbClr val="161D26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2331720"/>
            <a:ext cx="5074920" cy="2286000"/>
          </a:xfrm>
          <a:prstGeom prst="roundRect">
            <a:avLst>
              <a:gd name="adj" fmla="val 4800"/>
            </a:avLst>
          </a:prstGeom>
          <a:ln w="19050">
            <a:solidFill>
              <a:srgbClr val="5B8D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606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2971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583680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23960" y="2971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823960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0.450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846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the naive rule on both metrics at once, on a held-out test set it never trained on. 3 planted noise features correctly rank last in feature importance (avg rank 8.0 of 10) — evidence it learned signal, not spurious correlation.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along the way: at the old 0.70 threshold, every trained model's recall collapsed near zero — the harder data's true risk probability rarely exceeds 0.70 even for genuine incidents. Fixed by choosing each model's own threshold on validation data (0.225), not reusing one calibrated for a different, easier dataset.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PISI · Track 3: AI Revenue Recovery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HONEST FIXES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Found, measured, and fixed — not just identified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074920" cy="3703320"/>
          </a:xfrm>
          <a:prstGeom prst="roundRect">
            <a:avLst>
              <a:gd name="adj" fmla="val 2963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965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ALLOCATION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237744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49 misses happened only because the 30% cap ran out near the end of a busy batch — not a confidence problem, an ordering problem.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43000" y="33832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smallest-transaction-first, plus a per-incident reserve cap.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43000" y="3886200"/>
            <a:ext cx="4434840" cy="1051560"/>
          </a:xfrm>
          <a:prstGeom prst="roundRect">
            <a:avLst>
              <a:gd name="adj" fmla="val 6957"/>
            </a:avLst>
          </a:prstGeom>
          <a:solidFill>
            <a:srgbClr val="161D2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0507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0" y="45262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capital-exhaustion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rescued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43000" y="502920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seeds · 0 new false positives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074920" cy="3703320"/>
          </a:xfrm>
          <a:prstGeom prst="roundRect">
            <a:avLst>
              <a:gd name="adj" fmla="val 2963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965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LOOP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deployed model → simulate drift after deployment → retrain on accumulated data → verify on a third, untouched batch.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33832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fair test: does retraining actually help, or just memorize the drift sample?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3886200"/>
            <a:ext cx="4434840" cy="1051560"/>
          </a:xfrm>
          <a:prstGeom prst="roundRect">
            <a:avLst>
              <a:gd name="adj" fmla="val 6957"/>
            </a:avLst>
          </a:prstGeom>
          <a:solidFill>
            <a:srgbClr val="161D26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405079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0.413 → 0.454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12280" y="45262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old vs. retrained, same fresh holdout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0" y="502920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in 5 of 5 seed pairs tested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PISI · Track 3: AI Revenue Recovery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honest, reproducible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₹1.50 Cr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971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VOLUME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21031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₹14,999.90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11880" y="2971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REVENUE @ 0.10%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1031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₹5,136.95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17920" y="2971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FEE PROFIT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41080" y="182880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12181F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3960" y="21031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₹29,999.80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823960" y="2971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SAVINGS VS 0.30% REACTIVE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4069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above is the literal stdout of `python scripts/batch_eval.py` — seed=42, n=1000. Rerun it and get the identical numbers.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4709160"/>
            <a:ext cx="10515600" cy="1417320"/>
          </a:xfrm>
          <a:prstGeom prst="roundRect">
            <a:avLst>
              <a:gd name="adj" fmla="val 7742"/>
            </a:avLst>
          </a:prstGeom>
          <a:solidFill>
            <a:srgbClr val="161D26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9377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new prediction model — Razorpay's is better than anything built in two weeks. It's a product gap: turning a settlement product from reactive to predictive.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PISI · Track 3: AI Revenue Recovery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103120"/>
            <a:ext cx="6400800" cy="6400800"/>
          </a:xfrm>
          <a:prstGeom prst="ellipse">
            <a:avLst/>
          </a:prstGeom>
          <a:solidFill>
            <a:srgbClr val="3DDC9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 optimizes the path.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PISI optimizes the safety net.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3520440" cy="420624"/>
          </a:xfrm>
          <a:prstGeom prst="roundRect">
            <a:avLst>
              <a:gd name="adj" fmla="val 50000"/>
            </a:avLst>
          </a:prstGeom>
          <a:solidFill>
            <a:srgbClr val="12181F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931920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· AI REVENUE RECOVERY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 · dashboard/console.html · docs/KNOWN_LIMITATIONS.md — everything reproducible from source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2026-08-26T19:27:42Z</dcterms:created>
  <dcterms:modified xsi:type="dcterms:W3CDTF">2026-08-26T19:27:42Z</dcterms:modified>
</cp:coreProperties>
</file>
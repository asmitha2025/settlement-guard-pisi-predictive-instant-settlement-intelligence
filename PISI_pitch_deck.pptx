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TRACK 3 • AI REVENUE RECOVERY</a:t>
            </a:r>
          </a:p>
          <a:p>
            <a:pPr>
              <a:spcBef>
                <a:spcPts val="1200"/>
              </a:spcBef>
              <a:defRPr sz="6400" b="1">
                <a:solidFill>
                  <a:srgbClr val="FFFFFF"/>
                </a:solidFill>
              </a:defRPr>
            </a:pPr>
            <a:r>
              <a:t>PISI</a:t>
            </a:r>
          </a:p>
          <a:p>
            <a:pPr>
              <a:spcBef>
                <a:spcPts val="400"/>
              </a:spcBef>
              <a:defRPr sz="2800">
                <a:solidFill>
                  <a:srgbClr val="38BDF8"/>
                </a:solidFill>
              </a:defRPr>
            </a:pPr>
            <a:r>
              <a:t>Predictive Instant Settlement Intelligence</a:t>
            </a:r>
          </a:p>
          <a:p>
            <a:pPr>
              <a:spcBef>
                <a:spcPts val="1600"/>
              </a:spcBef>
              <a:defRPr sz="1600">
                <a:solidFill>
                  <a:srgbClr val="94A3B8"/>
                </a:solidFill>
              </a:defRPr>
            </a:pPr>
            <a:r>
              <a:t>Autonomous Post-Capture Liquidity Protection &amp; Pre-Approved Instant Settlement</a:t>
            </a:r>
          </a:p>
          <a:p>
            <a:pPr>
              <a:spcBef>
                <a:spcPts val="3600"/>
              </a:spcBef>
              <a:defRPr sz="1400" b="1">
                <a:solidFill>
                  <a:srgbClr val="34D399"/>
                </a:solidFill>
              </a:defRPr>
            </a:pPr>
            <a:r>
              <a:t>Razorpay AI Buildathon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 3 • AI REVENUE RECOVERY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The Problem: Two Fundamentally Different Failures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7171"/>
                </a:solidFill>
              </a:defRPr>
            </a:pPr>
            <a:r>
              <a:t>1. AUTHORIZATION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0">
                <a:solidFill>
                  <a:srgbClr val="94A3B8"/>
                </a:solidFill>
              </a:defRPr>
            </a:pPr>
            <a:r>
              <a:t>• The payment attempt doesn't go through.</a:t>
            </a:r>
          </a:p>
          <a:p>
            <a:pPr>
              <a:spcBef>
                <a:spcPts val="1200"/>
              </a:spcBef>
              <a:defRPr sz="1400" b="0">
                <a:solidFill>
                  <a:srgbClr val="94A3B8"/>
                </a:solidFill>
              </a:defRPr>
            </a:pPr>
            <a:r>
              <a:t>• Customer's bank can't approve the debit.</a:t>
            </a:r>
          </a:p>
          <a:p>
            <a:pPr>
              <a:spcBef>
                <a:spcPts val="1200"/>
              </a:spcBef>
              <a:defRPr sz="1400" b="0">
                <a:solidFill>
                  <a:srgbClr val="94A3B8"/>
                </a:solidFill>
              </a:defRPr>
            </a:pPr>
            <a:r>
              <a:t>• Razorpay error docs cite this as 'beyond our control' and point to multi-terminal routing.</a:t>
            </a:r>
          </a:p>
          <a:p>
            <a:pPr>
              <a:spcBef>
                <a:spcPts val="1200"/>
              </a:spcBef>
              <a:defRPr sz="1400" b="0">
                <a:solidFill>
                  <a:srgbClr val="94A3B8"/>
                </a:solidFill>
              </a:defRPr>
            </a:pPr>
            <a:r>
              <a:t>• Handled by Smart Routing (Bygari et al., 2021).</a:t>
            </a:r>
          </a:p>
          <a:p>
            <a:pPr>
              <a:spcBef>
                <a:spcPts val="1200"/>
              </a:spcBef>
              <a:defRPr sz="1400" b="1">
                <a:solidFill>
                  <a:srgbClr val="F87171"/>
                </a:solidFill>
              </a:defRPr>
            </a:pPr>
            <a:r>
              <a:t>• STATUS: ALREADY SOLVED BY RAZORPAY.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120640" cy="47548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2. SETTLEMENT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0">
                <a:solidFill>
                  <a:srgbClr val="FFFFFF"/>
                </a:solidFill>
              </a:defRPr>
            </a:pPr>
            <a:r>
              <a:t>• The payment already succeeded and was captured.</a:t>
            </a:r>
          </a:p>
          <a:p>
            <a:pPr>
              <a:spcBef>
                <a:spcPts val="1200"/>
              </a:spcBef>
              <a:defRPr sz="1400" b="0">
                <a:solidFill>
                  <a:srgbClr val="FFFFFF"/>
                </a:solidFill>
              </a:defRPr>
            </a:pPr>
            <a:r>
              <a:t>• Funds are trapped in degraded partner bank CBS (T+2 to T+7 delay).</a:t>
            </a:r>
          </a:p>
          <a:p>
            <a:pPr>
              <a:spcBef>
                <a:spcPts val="1200"/>
              </a:spcBef>
              <a:defRPr sz="1400" b="0">
                <a:solidFill>
                  <a:srgbClr val="FFFFFF"/>
                </a:solidFill>
              </a:defRPr>
            </a:pPr>
            <a:r>
              <a:t>• Not a customer error — a severe merchant cash-flow crisis.</a:t>
            </a:r>
          </a:p>
          <a:p>
            <a:pPr>
              <a:spcBef>
                <a:spcPts val="1200"/>
              </a:spcBef>
              <a:defRPr sz="1400" b="0">
                <a:solidFill>
                  <a:srgbClr val="FFFFFF"/>
                </a:solidFill>
              </a:defRPr>
            </a:pPr>
            <a:r>
              <a:t>• Today, merchants must notice delays manually and pay 0.30%–0.50% fee.</a:t>
            </a:r>
          </a:p>
          <a:p>
            <a:pPr>
              <a:spcBef>
                <a:spcPts val="1200"/>
              </a:spcBef>
              <a:defRPr sz="1400" b="1">
                <a:solidFill>
                  <a:srgbClr val="34D399"/>
                </a:solidFill>
              </a:defRPr>
            </a:pPr>
            <a:r>
              <a:t>• NOTHING PREDICTS IT AHEAD OF TIME. THIS IS WHAT PISI BUILDS.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 3 • AI REVENUE RECOVERY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Razorpay Already Built Both Halves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SMART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✔ 94.69% Random Forest precision (best of 5 models).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✔ 4–6% measured lift in production success rate.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✔ Trained on ~35 Million transactions.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✔ Operates exclusively on the acquiring/gateway side.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✔ Cannot touch settlement timing after capture.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120640" cy="47548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BBF24"/>
                </a:solidFill>
              </a:defRPr>
            </a:pPr>
            <a:r>
              <a:t>INSTANT SETTLEMENT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✔ T+0 payout advance using Razorpay's corporate capital.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✔ Published fee at 0.30% per settlement.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✔ Applies only to payments that are already captured.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✔ 100% merchant-triggered and reactive today.</a:t>
            </a:r>
          </a:p>
          <a:p>
            <a:pPr>
              <a:spcBef>
                <a:spcPts val="1400"/>
              </a:spcBef>
              <a:defRPr sz="1400">
                <a:solidFill>
                  <a:srgbClr val="FFFFFF"/>
                </a:solidFill>
              </a:defRPr>
            </a:pPr>
            <a:r>
              <a:t>✔ Only ~15% of merchants opt in; 85% remain unprotected.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 3 • AI REVENUE RECOVERY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The Gap: Nothing Connects Prediction to Capital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29260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SMART ROUTING                   INSTANT SETTLEMENT                  PISI</a:t>
            </a:r>
          </a:p>
          <a:p>
            <a:pPr>
              <a:spcBef>
                <a:spcPts val="1400"/>
              </a:spcBef>
              <a:defRPr sz="1500">
                <a:solidFill>
                  <a:srgbClr val="FFFFFF"/>
                </a:solidFill>
              </a:defRPr>
            </a:pPr>
            <a:r>
              <a:t>Predicts which gateway          Advances payout,                    Predictive, automatic,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succeeds before auth            reactively upon request             pre-approved settlement</a:t>
            </a:r>
          </a:p>
          <a:p>
            <a:pPr>
              <a:defRPr sz="1500" b="1">
                <a:solidFill>
                  <a:srgbClr val="34D399"/>
                </a:solidFill>
              </a:defRPr>
            </a:pPr>
            <a:r>
              <a:t>(Acquiring side)                (Post-capture liquidity)            (Full Autonomous Loop)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698480" cy="1645920"/>
          </a:xfrm>
          <a:prstGeom prst="roundRect">
            <a:avLst/>
          </a:prstGeom>
          <a:solidFill>
            <a:srgbClr val="1A2E5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5488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FFFFFF"/>
                </a:solidFill>
              </a:defRPr>
            </a:pPr>
            <a:r>
              <a:t>"Smart Routing handles gateway-side degradation. Nothing predicts settlement-path risk ahead of time and pre-approves the advance automatically — today a merchant has to notice the delay themselves."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 3 • AI REVENUE RECOVERY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How It Works: Two Independent Legs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LEG A · SETTLEMENT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MOVES CAPITAL (Autonomous Action)</a:t>
            </a:r>
          </a:p>
          <a:p>
            <a:pPr>
              <a:spcBef>
                <a:spcPts val="1200"/>
              </a:spcBef>
              <a:defRPr sz="1350">
                <a:solidFill>
                  <a:srgbClr val="FFFFFF"/>
                </a:solidFill>
              </a:defRPr>
            </a:pPr>
            <a:r>
              <a:t>✔ Monitors partner settlement banks via 5D Vitality.</a:t>
            </a:r>
          </a:p>
          <a:p>
            <a:pPr>
              <a:spcBef>
                <a:spcPts val="1200"/>
              </a:spcBef>
              <a:defRPr sz="1350">
                <a:solidFill>
                  <a:srgbClr val="FFFFFF"/>
                </a:solidFill>
              </a:defRPr>
            </a:pPr>
            <a:r>
              <a:t>✔ Predicts CBS delay 15–30 minutes before collapse.</a:t>
            </a:r>
          </a:p>
          <a:p>
            <a:pPr>
              <a:spcBef>
                <a:spcPts val="1200"/>
              </a:spcBef>
              <a:defRPr sz="1350">
                <a:solidFill>
                  <a:srgbClr val="FFFFFF"/>
                </a:solidFill>
              </a:defRPr>
            </a:pPr>
            <a:r>
              <a:t>✔ Pre-approves captured payments for T+0 credit.</a:t>
            </a:r>
          </a:p>
          <a:p>
            <a:pPr>
              <a:spcBef>
                <a:spcPts val="1200"/>
              </a:spcBef>
              <a:defRPr sz="1350">
                <a:solidFill>
                  <a:srgbClr val="FFFFFF"/>
                </a:solidFill>
              </a:defRPr>
            </a:pPr>
            <a:r>
              <a:t>✔ Discounted predictive fee: 0.10% (vs 0.30% reactive).</a:t>
            </a:r>
          </a:p>
          <a:p>
            <a:pPr>
              <a:spcBef>
                <a:spcPts val="1200"/>
              </a:spcBef>
              <a:defRPr sz="1350">
                <a:solidFill>
                  <a:srgbClr val="FFFFFF"/>
                </a:solidFill>
              </a:defRPr>
            </a:pPr>
            <a:r>
              <a:t>✔ Safety capped at 30% total portfolio allocation.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120640" cy="47548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BBF24"/>
                </a:solidFill>
              </a:defRPr>
            </a:pPr>
            <a:r>
              <a:t>LEG B · AUTHORIZATION WARNING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BBF24"/>
                </a:solidFill>
              </a:defRPr>
            </a:pPr>
            <a:r>
              <a:t>INFORMATIONAL ONLY (Zero Capital Deployed)</a:t>
            </a:r>
          </a:p>
          <a:p>
            <a:pPr>
              <a:spcBef>
                <a:spcPts val="1200"/>
              </a:spcBef>
              <a:defRPr sz="1350">
                <a:solidFill>
                  <a:srgbClr val="FFFFFF"/>
                </a:solidFill>
              </a:defRPr>
            </a:pPr>
            <a:r>
              <a:t>✔ Detects customer issuing bank degradation patterns.</a:t>
            </a:r>
          </a:p>
          <a:p>
            <a:pPr>
              <a:spcBef>
                <a:spcPts val="1200"/>
              </a:spcBef>
              <a:defRPr sz="1350">
                <a:solidFill>
                  <a:srgbClr val="FFFFFF"/>
                </a:solidFill>
              </a:defRPr>
            </a:pPr>
            <a:r>
              <a:t>✔ Early warning webhooks push alerts to merchants.</a:t>
            </a:r>
          </a:p>
          <a:p>
            <a:pPr>
              <a:spcBef>
                <a:spcPts val="1200"/>
              </a:spcBef>
              <a:defRPr sz="1350">
                <a:solidFill>
                  <a:srgbClr val="FFFFFF"/>
                </a:solidFill>
              </a:defRPr>
            </a:pPr>
            <a:r>
              <a:t>✔ Allows merchant to steer checkout methods ahead of spikes.</a:t>
            </a:r>
          </a:p>
          <a:p>
            <a:pPr>
              <a:spcBef>
                <a:spcPts val="1200"/>
              </a:spcBef>
              <a:defRPr sz="1350">
                <a:solidFill>
                  <a:srgbClr val="FFFFFF"/>
                </a:solidFill>
              </a:defRPr>
            </a:pPr>
            <a:r>
              <a:t>✔ Never claims to prevent bank failure.</a:t>
            </a:r>
          </a:p>
          <a:p>
            <a:pPr>
              <a:spcBef>
                <a:spcPts val="1200"/>
              </a:spcBef>
              <a:defRPr sz="1350">
                <a:solidFill>
                  <a:srgbClr val="FFFFFF"/>
                </a:solidFill>
              </a:defRPr>
            </a:pPr>
            <a:r>
              <a:t>✔ Zero capital exposure; infinite scalability.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 3 • AI REVENUE RECOVERY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Architecture: Six Layers, Perceive to Learn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698480" cy="777240"/>
          </a:xfrm>
          <a:prstGeom prst="roundRect">
            <a:avLst/>
          </a:prstGeom>
          <a:solidFill>
            <a:srgbClr val="131E4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29260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L1 Data Ingestion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1371600"/>
            <a:ext cx="7132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Captured-payment + failed-payment webhook streams (&lt;5ms HMAC)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39"/>
            <a:ext cx="10698480" cy="777240"/>
          </a:xfrm>
          <a:prstGeom prst="roundRect">
            <a:avLst/>
          </a:prstGeom>
          <a:solidFill>
            <a:srgbClr val="131E4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79"/>
            <a:ext cx="29260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L2 Feature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240279"/>
            <a:ext cx="7132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5D Bank Vitality: Error acceleration, settlement velocity, maintenance windows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17520"/>
            <a:ext cx="10698480" cy="777240"/>
          </a:xfrm>
          <a:prstGeom prst="roundRect">
            <a:avLst/>
          </a:prstGeom>
          <a:solidFill>
            <a:srgbClr val="131E41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29260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L3 Prediction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108960"/>
            <a:ext cx="7132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Calibrated XGBoost downtime classifier (47 features) + duration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86200"/>
            <a:ext cx="10698480" cy="777240"/>
          </a:xfrm>
          <a:prstGeom prst="roundRect">
            <a:avLst/>
          </a:prstGeom>
          <a:solidFill>
            <a:srgbClr val="131E41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77639"/>
            <a:ext cx="29260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L4 Decision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977639"/>
            <a:ext cx="7132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3-Tier Escalation Matrix, 30% capital cap, 10 concurrent bridge limits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754880"/>
            <a:ext cx="10698480" cy="777240"/>
          </a:xfrm>
          <a:prstGeom prst="roundRect">
            <a:avLst/>
          </a:prstGeom>
          <a:solidFill>
            <a:srgbClr val="131E41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29260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BBF24"/>
                </a:solidFill>
              </a:defRPr>
            </a:pPr>
            <a:r>
              <a:t>L5 Execution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846320"/>
            <a:ext cx="7132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Instant Settlement execution + Immutable SHA-256 BridgeKeyID audit trail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623560"/>
            <a:ext cx="10698480" cy="777240"/>
          </a:xfrm>
          <a:prstGeom prst="roundRect">
            <a:avLst/>
          </a:prstGeom>
          <a:solidFill>
            <a:srgbClr val="131E41"/>
          </a:solidFill>
          <a:ln w="1524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715000"/>
            <a:ext cx="29260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7171"/>
                </a:solidFill>
              </a:defRPr>
            </a:pPr>
            <a:r>
              <a:t>L6 Monitoring &amp;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715000"/>
            <a:ext cx="7132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Precision/recall tracking, Kolmogorov-Smirnov drift detection, auto-retrain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 3 • AI REVENUE RECOVERY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Live System: Working Console &amp; SHA-256 Audit Trail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7171"/>
                </a:solidFill>
              </a:defRPr>
            </a:pPr>
            <a:r>
              <a:t>BANK VITALITY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7171"/>
                </a:solidFill>
              </a:defRPr>
            </a:pPr>
            <a:r>
              <a:t>SBI Trajectory: 91 → 67 → 34 HP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Status: CRITICAL (Below 50 HP Activation Threshold)</a:t>
            </a:r>
          </a:p>
          <a:p>
            <a:pPr>
              <a:spcBef>
                <a:spcPts val="2000"/>
              </a:spcBef>
              <a:defRPr sz="1500" b="1">
                <a:solidFill>
                  <a:srgbClr val="38BDF8"/>
                </a:solidFill>
              </a:defRPr>
            </a:pPr>
            <a:r>
              <a:t>Decisions Fired:</a:t>
            </a:r>
          </a:p>
          <a:p>
            <a:pPr>
              <a:spcBef>
                <a:spcPts val="600"/>
              </a:spcBef>
              <a:defRPr sz="1400" b="1">
                <a:solidFill>
                  <a:srgbClr val="34D399"/>
                </a:solidFill>
              </a:defRPr>
            </a:pPr>
            <a:r>
              <a:t>• Leg A: ACTIVATE (Autonomous Payout Advance)</a:t>
            </a:r>
          </a:p>
          <a:p>
            <a:pPr>
              <a:spcBef>
                <a:spcPts val="600"/>
              </a:spcBef>
              <a:defRPr sz="1400">
                <a:solidFill>
                  <a:srgbClr val="FBBF24"/>
                </a:solidFill>
              </a:defRPr>
            </a:pPr>
            <a:r>
              <a:t>• Leg B: WARN (Merchant Notification Pushed)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120640" cy="47548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BRIDGE KEY ID (§7.3 SCHEMA)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Sample Audit Record: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</a:defRPr>
            </a:pPr>
            <a:r>
              <a:t>Bridge ID: BRIDGE-SBI-20260823T133603-mo_000</a:t>
            </a:r>
            <a:br/>
            <a:r>
              <a:t>Amount: ₹3,641.63</a:t>
            </a:r>
            <a:br/>
            <a:r>
              <a:t>Fee (0.10%): ₹3.64</a:t>
            </a:r>
            <a:br/>
            <a:r>
              <a:t>Merchant Credited: ₹3,637.99 (T+0 instant)</a:t>
            </a:r>
          </a:p>
          <a:p>
            <a:pPr>
              <a:spcBef>
                <a:spcPts val="1600"/>
              </a:spcBef>
              <a:defRPr sz="1300" b="1">
                <a:solidFill>
                  <a:srgbClr val="34D399"/>
                </a:solidFill>
              </a:defRPr>
            </a:pPr>
            <a:r>
              <a:t>SHA-256 Audit Hash (Web Crypto &amp; Python hashlib):</a:t>
            </a:r>
          </a:p>
          <a:p>
            <a:pPr>
              <a:spcBef>
                <a:spcPts val="400"/>
              </a:spcBef>
              <a:defRPr sz="1100">
                <a:solidFill>
                  <a:srgbClr val="38BDF8"/>
                </a:solidFill>
              </a:defRPr>
            </a:pPr>
            <a:r>
              <a:t>944c25f386d8358b22f4f7734c67b12e55516bd2392ef54642803b93903a398</a:t>
            </a:r>
          </a:p>
          <a:p>
            <a:pPr>
              <a:spcBef>
                <a:spcPts val="1600"/>
              </a:spcBef>
              <a:defRPr sz="1300" b="1">
                <a:solidFill>
                  <a:srgbClr val="34D399"/>
                </a:solidFill>
              </a:defRPr>
            </a:pPr>
            <a:r>
              <a:t>✔ Books balanced — debits = credits verified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 3 • AI REVENUE RECOVERY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Measured Results: 1,000 Independent Incidents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137160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25603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119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True Positives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371600"/>
            <a:ext cx="2560320" cy="137160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0" y="1463040"/>
            <a:ext cx="25603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0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False Positives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71600"/>
            <a:ext cx="2560320" cy="137160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463040"/>
            <a:ext cx="25603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87171"/>
                </a:solidFill>
              </a:defRPr>
            </a:pPr>
            <a:r>
              <a:t>49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False Negatives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371600"/>
            <a:ext cx="2560320" cy="137160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1463040"/>
            <a:ext cx="25603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</a:defRPr>
            </a:pPr>
            <a:r>
              <a:t>832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True Negatives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17520"/>
            <a:ext cx="10698480" cy="329184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BBF24"/>
                </a:solidFill>
              </a:defRPr>
            </a:pPr>
            <a:r>
              <a:t>HONEST ANALYSIS OF THE 49 FALSE NEGATIVES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5760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</a:defRPr>
            </a:pPr>
            <a:r>
              <a:t>• 100% PRECISION | 70.8% RECALL (N=1000, STABLE)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• 43 of 49 Misses: Confidence stayed below the 70% activation floor on a genuine risk incident. The engine correctly held back rather than deploy capital on an uncertain signal.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6 of 49 Misses: Occurred only after incident #965 of 1000, when cumulative deployment approached the 30% capital portfolio cap. The safety gate is an authentic constraint, not decorative.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 3 • AI REVENUE RECOVERY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A Real Trained Classifier, Tested on Harder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7548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4A3B8"/>
                </a:solidFill>
              </a:defRPr>
            </a:pPr>
            <a:r>
              <a:t>Trained on adversarial noisy dataset where bank failure is genuinely non-obvious:</a:t>
            </a:r>
          </a:p>
          <a:p>
            <a:pPr>
              <a:spcBef>
                <a:spcPts val="1400"/>
              </a:spcBef>
              <a:defRPr sz="1600" b="1">
                <a:solidFill>
                  <a:srgbClr val="38BDF8"/>
                </a:solidFill>
              </a:defRPr>
            </a:pPr>
            <a:r>
              <a:t>MODEL COMPARISON ON HELD-OUT TEST SET:</a:t>
            </a:r>
          </a:p>
          <a:p>
            <a:pPr>
              <a:spcBef>
                <a:spcPts val="1000"/>
              </a:spcBef>
              <a:defRPr sz="1700" b="1">
                <a:solidFill>
                  <a:srgbClr val="34D399"/>
                </a:solidFill>
              </a:defRPr>
            </a:pPr>
            <a:r>
              <a:t>• Naive Rule:     27.9% Precision | 50.2% Recall | F1 = 0.359</a:t>
            </a:r>
            <a:br/>
            <a:r>
              <a:t>• XGBoost Model:  38.4% Precision | 54.5% Recall | F1 = 0.450</a:t>
            </a:r>
          </a:p>
          <a:p>
            <a:pPr>
              <a:spcBef>
                <a:spcPts val="1800"/>
              </a:spcBef>
              <a:defRPr sz="1500" b="1">
                <a:solidFill>
                  <a:srgbClr val="FBBF24"/>
                </a:solidFill>
              </a:defRPr>
            </a:pPr>
            <a:r>
              <a:t>Key Scientific Findings:</a:t>
            </a:r>
          </a:p>
          <a:p>
            <a:pPr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✔ Beats naive heuristics on both precision and recall simultaneously on held-out test data.</a:t>
            </a:r>
          </a:p>
          <a:p>
            <a:pPr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✔ Planted noise features correctly ranked dead last in feature importance (average rank 8.0 of 10).</a:t>
            </a:r>
          </a:p>
          <a:p>
            <a:pPr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✔ Threshold calibration: Calibrated optimal validation threshold at 0.225 (avoiding recall collapse at 0.70).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 3 • AI REVENUE RECOVERY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Found, Measured, and Fixed: Engineering Iterations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7171"/>
                </a:solidFill>
              </a:defRPr>
            </a:pPr>
            <a:r>
              <a:t>CAPITAL ALLOCATION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The 30% Cap Ordering Flaw: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• 6 of 49 misses were caused by capital exhaustion near incident #965.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• Root cause: An ordering problem, not a confidence failure.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• FIX: Implemented Smallest-Transaction-First allocation + per-incident reserve cap.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• RESULT: 100% of capital-exhaustion misses rescued across 5 seeds with 0 new false positives.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120640" cy="47548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AUTONOMOUS LEARNING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Simulating Real Drift &amp; Retraining: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• Simulated post-deployment feature drift in error streams.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• Triggered autonomous retrain on accumulated production telemetry.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• Verified on a third, completely untouched test batch.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• RESULT: F1 improved from 0.413 → 0.454 in 5 of 5 seed pairs tested.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 3 • AI REVENUE RECOVERY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Financial Impact: Measured, Not Projected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164592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25603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</a:defRPr>
            </a:pPr>
            <a:r>
              <a:t>₹1.50 Cr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PROTECTED VOLUME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371600"/>
            <a:ext cx="2560320" cy="164592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0" y="1554480"/>
            <a:ext cx="25603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</a:defRPr>
            </a:pPr>
            <a:r>
              <a:t>₹14,999.90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FEE REVENUE @ 0.10%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71600"/>
            <a:ext cx="2560320" cy="164592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554480"/>
            <a:ext cx="25603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</a:defRPr>
            </a:pPr>
            <a:r>
              <a:t>₹5,136.95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NET FEE PROFIT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371600"/>
            <a:ext cx="2560320" cy="164592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1554480"/>
            <a:ext cx="25603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BBF24"/>
                </a:solidFill>
              </a:defRPr>
            </a:pPr>
            <a:r>
              <a:t>₹29,999.80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MERCHANT SAVINGS VS 0.30%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10698480" cy="29260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56616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Literal stdout of `python scripts/batch_eval.py` — seed=42, n=1000</a:t>
            </a:r>
          </a:p>
          <a:p>
            <a:pPr>
              <a:spcBef>
                <a:spcPts val="1600"/>
              </a:spcBef>
              <a:defRPr sz="1800" i="1">
                <a:solidFill>
                  <a:srgbClr val="FFFFFF"/>
                </a:solidFill>
              </a:defRPr>
            </a:pPr>
            <a:r>
              <a:t>"This isn't a new prediction model — Razorpay's is better than anything built in two weeks.</a:t>
            </a:r>
            <a:br/>
            <a:r>
              <a:t>It's a product gap: turning a settlement product from reactive to predictive."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 3 • AI REVENUE RECOVERY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Production-Ready &amp; Deployed (Full-Stack)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LIVE SYSTEM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Interactive Console (Vercel): https://pisi-eosin.vercel.app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Decision Engine (Render): https://settlement-guard-pisi-predictive-instant.onrender.com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One-Click 'Simulate Downtime' Button: Triggers perception → inference → escalation → instant settlement.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Webhook Receiver: 6 Razorpay event types with synchronous HMAC-SHA256 signature verification (&lt;5ms latency).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Uptime Monitoring: 24/7 keep-alive to eliminate cold starts.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120640" cy="47548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CAPITAL SAFEGUARDS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Tamper-Evident SHA-256 Audit Trail: Byte-for-byte verified with Web Crypto and Python hashlib.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Strict Double-Entry Ledger: Balanced accounting with automatic T+2 replenishment reconciliation.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3-Tier Escalation Matrix: HIGH (Auto-advance) / MEDIUM (Confirm) / LOW (Alert only).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</a:defRPr>
            </a:pPr>
            <a:r>
              <a:t>✔ Hard Stopping Rules: 30% portfolio capital cap, 10 concurrent bridges, ₹50K per-tx limit.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 3 • AI REVENUE RECOVERY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What We've Built Beyond the Original 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698480" cy="777240"/>
          </a:xfrm>
          <a:prstGeom prst="roundRect">
            <a:avLst/>
          </a:prstGeom>
          <a:solidFill>
            <a:srgbClr val="131E4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3474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Real Razorpay API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37160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Executes on-demand settlements with exact rupee-to-paise conversion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39"/>
            <a:ext cx="10698480" cy="777240"/>
          </a:xfrm>
          <a:prstGeom prst="roundRect">
            <a:avLst/>
          </a:prstGeom>
          <a:solidFill>
            <a:srgbClr val="131E4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79"/>
            <a:ext cx="3474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Live Webhook Receiver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79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Ingests real payment events, verifies HMAC signatures (&lt;5ms latency)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17520"/>
            <a:ext cx="10698480" cy="777240"/>
          </a:xfrm>
          <a:prstGeom prst="roundRect">
            <a:avLst/>
          </a:prstGeom>
          <a:solidFill>
            <a:srgbClr val="131E4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3474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Trained XGBoost Classifier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10896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F1 = 0.6965 on core benchmark (and 0.450 on adversarial stress-test)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86200"/>
            <a:ext cx="10698480" cy="777240"/>
          </a:xfrm>
          <a:prstGeom prst="roundRect">
            <a:avLst/>
          </a:prstGeom>
          <a:solidFill>
            <a:srgbClr val="131E4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77639"/>
            <a:ext cx="3474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Isolation Forest Anomaly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977639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Catches novel out-of-distribution bank failures without labels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754880"/>
            <a:ext cx="10698480" cy="777240"/>
          </a:xfrm>
          <a:prstGeom prst="roundRect">
            <a:avLst/>
          </a:prstGeom>
          <a:solidFill>
            <a:srgbClr val="131E4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3474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Autonomous Learning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84632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Auto-retrains on concept drift, validated across 5 seed pairs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623560"/>
            <a:ext cx="10698480" cy="777240"/>
          </a:xfrm>
          <a:prstGeom prst="roundRect">
            <a:avLst/>
          </a:prstGeom>
          <a:solidFill>
            <a:srgbClr val="131E41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715000"/>
            <a:ext cx="3474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FastAPI Production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71500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Containerized and deployed on Render with Vercel reverse proxy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</a:defRPr>
            </a:pPr>
            <a:r>
              <a:t>Smart Routing optimizes the path.</a:t>
            </a:r>
          </a:p>
          <a:p>
            <a:pPr algn="ctr">
              <a:spcBef>
                <a:spcPts val="1600"/>
              </a:spcBef>
              <a:defRPr sz="4400" b="1">
                <a:solidFill>
                  <a:srgbClr val="34D399"/>
                </a:solidFill>
              </a:defRPr>
            </a:pPr>
            <a:r>
              <a:t>PISI optimizes the safety net.</a:t>
            </a:r>
          </a:p>
          <a:p>
            <a:pPr algn="ctr">
              <a:spcBef>
                <a:spcPts val="4000"/>
              </a:spcBef>
              <a:defRPr sz="2200">
                <a:solidFill>
                  <a:srgbClr val="FFFFFF"/>
                </a:solidFill>
              </a:defRPr>
            </a:pPr>
            <a:r>
              <a:t>PISI — Predictive Instant Settlement Intelligence</a:t>
            </a:r>
          </a:p>
          <a:p>
            <a:pPr algn="ctr">
              <a:spcBef>
                <a:spcPts val="1200"/>
              </a:spcBef>
              <a:defRPr sz="1800" i="1">
                <a:solidFill>
                  <a:srgbClr val="94A3B8"/>
                </a:solidFill>
              </a:defRPr>
            </a:pPr>
            <a:r>
              <a:t>One question: What if the merchant never had to ask?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TRACK 3 • AI REVENUE RECOVERY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</a:defRPr>
            </a:pPr>
            <a:r>
              <a:t>Links, Resources &amp; Submission Details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754880"/>
          </a:xfrm>
          <a:prstGeom prst="roundRect">
            <a:avLst/>
          </a:prstGeom>
          <a:solidFill>
            <a:srgbClr val="131E41"/>
          </a:solidFill>
          <a:ln w="19050">
            <a:solidFill>
              <a:srgbClr val="28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1600" b="1">
                <a:solidFill>
                  <a:srgbClr val="34D399"/>
                </a:solidFill>
              </a:defRPr>
            </a:pPr>
            <a:r>
              <a:t>Interactive Live Dashboard: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</a:defRPr>
            </a:pPr>
            <a:r>
              <a:t>  https://pisi-eosin.vercel.app</a:t>
            </a:r>
          </a:p>
          <a:p>
            <a:pPr>
              <a:spcBef>
                <a:spcPts val="1600"/>
              </a:spcBef>
              <a:defRPr sz="1600" b="1">
                <a:solidFill>
                  <a:srgbClr val="38BDF8"/>
                </a:solidFill>
              </a:defRPr>
            </a:pPr>
            <a:r>
              <a:t>Production REST API / Health: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</a:defRPr>
            </a:pPr>
            <a:r>
              <a:t>  https://settlement-guard-pisi-predictive-instant.onrender.com/health</a:t>
            </a:r>
          </a:p>
          <a:p>
            <a:pPr>
              <a:spcBef>
                <a:spcPts val="1600"/>
              </a:spcBef>
              <a:defRPr sz="1600" b="1">
                <a:solidFill>
                  <a:srgbClr val="38BDF8"/>
                </a:solidFill>
              </a:defRPr>
            </a:pPr>
            <a:r>
              <a:t>GitHub Repository: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</a:defRPr>
            </a:pPr>
            <a:r>
              <a:t>  https://github.com/asmitha2025/Settlement-Guard-PISI-Predictive-Instant-Settlement-Intelligence</a:t>
            </a:r>
          </a:p>
          <a:p>
            <a:pPr>
              <a:spcBef>
                <a:spcPts val="1600"/>
              </a:spcBef>
              <a:defRPr sz="1600" b="1">
                <a:solidFill>
                  <a:srgbClr val="FBBF24"/>
                </a:solidFill>
              </a:defRPr>
            </a:pPr>
            <a:r>
              <a:t>Target Track: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</a:defRPr>
            </a:pPr>
            <a:r>
              <a:t>  Track 3 — AI Revenue Recovery (Razorpay AI Buildathon 2026)</a:t>
            </a:r>
          </a:p>
          <a:p>
            <a:pPr>
              <a:spcBef>
                <a:spcPts val="1600"/>
              </a:spcBef>
              <a:defRPr sz="1600" b="1">
                <a:solidFill>
                  <a:srgbClr val="FFFFFF"/>
                </a:solidFill>
              </a:defRPr>
            </a:pPr>
            <a:r>
              <a:t>Key Innovation: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</a:defRPr>
            </a:pPr>
            <a:r>
              <a:t>  Autonomous T+0 instant settlement pre-approval under 30% portfolio capital cap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